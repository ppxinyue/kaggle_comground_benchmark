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80" r:id="rId3"/>
    <p:sldId id="276" r:id="rId4"/>
    <p:sldId id="278" r:id="rId6"/>
    <p:sldId id="279" r:id="rId7"/>
    <p:sldId id="27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u sirui" initials="Qs" lastIdx="0" clrIdx="0"/>
  <p:cmAuthor id="2" name="Fish Zheng" initials="FZ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6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B9C1901D-C136-4C1A-8CA5-A3E3D3EA0866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B9C1901D-C136-4C1A-8CA5-A3E3D3EA0866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B9C1901D-C136-4C1A-8CA5-A3E3D3EA0866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B9C1901D-C136-4C1A-8CA5-A3E3D3EA0866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Social Cognition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experimental task ----&gt; real world scenario</a:t>
            </a:r>
            <a:endParaRPr lang="en-US" altLang="zh-CN"/>
          </a:p>
          <a:p>
            <a:r>
              <a:rPr lang="en-US" altLang="zh-CN"/>
              <a:t>single agent ----&gt;   multi-agent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B231D1B-BF64-4637-A776-FABB3FE7EFB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6" name="文本框 65"/>
          <p:cNvSpPr txBox="1"/>
          <p:nvPr/>
        </p:nvSpPr>
        <p:spPr>
          <a:xfrm>
            <a:off x="362585" y="306070"/>
            <a:ext cx="11082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1. Referential Communication</a:t>
            </a:r>
            <a:endParaRPr lang="en-US" altLang="zh-CN" sz="2800" b="1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62585" y="894715"/>
            <a:ext cx="11082020" cy="0"/>
          </a:xfrm>
          <a:prstGeom prst="line">
            <a:avLst/>
          </a:prstGeom>
          <a:ln>
            <a:solidFill>
              <a:srgbClr val="C00000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907780" y="4850765"/>
            <a:ext cx="1883410" cy="237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36695"/>
            <a:ext cx="4234815" cy="19634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385" y="3542030"/>
            <a:ext cx="2170430" cy="28549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290" y="4135755"/>
            <a:ext cx="3851910" cy="16675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2585" y="1067435"/>
            <a:ext cx="10830560" cy="89154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/>
              <a:t>Core question</a:t>
            </a:r>
            <a:endParaRPr lang="en-US" altLang="zh-CN" sz="2000" b="1"/>
          </a:p>
          <a:p>
            <a:r>
              <a:rPr lang="en-US" altLang="zh-CN" sz="1600"/>
              <a:t>Can the model infer a speaker’s intended referent when the literal expression is ambiguous, underspecified, or partially misleading?</a:t>
            </a:r>
            <a:endParaRPr lang="en-US" altLang="zh-CN" sz="1600"/>
          </a:p>
        </p:txBody>
      </p:sp>
      <p:sp>
        <p:nvSpPr>
          <p:cNvPr id="8" name="文本框 7"/>
          <p:cNvSpPr txBox="1"/>
          <p:nvPr/>
        </p:nvSpPr>
        <p:spPr>
          <a:xfrm>
            <a:off x="362585" y="2063115"/>
            <a:ext cx="7902575" cy="11372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/>
              <a:t>Subtasks</a:t>
            </a:r>
            <a:endParaRPr lang="en-US" altLang="zh-CN" sz="2000" b="1"/>
          </a:p>
          <a:p>
            <a:r>
              <a:rPr lang="en-US" altLang="zh-CN" sz="1600"/>
              <a:t>Minimal Referential Task </a:t>
            </a:r>
            <a:endParaRPr lang="en-US" altLang="zh-CN" sz="1600"/>
          </a:p>
          <a:p>
            <a:r>
              <a:rPr lang="en-US" altLang="zh-CN" sz="1600"/>
              <a:t>Director Task</a:t>
            </a:r>
            <a:endParaRPr lang="en-US" altLang="zh-CN" sz="1600"/>
          </a:p>
          <a:p>
            <a:r>
              <a:rPr lang="en-US" altLang="zh-CN" sz="1600"/>
              <a:t>Everyday Referential Scenario </a:t>
            </a:r>
            <a:endParaRPr lang="en-US" altLang="zh-CN" sz="1600"/>
          </a:p>
        </p:txBody>
      </p:sp>
      <p:sp>
        <p:nvSpPr>
          <p:cNvPr id="9" name="文本框 8"/>
          <p:cNvSpPr txBox="1"/>
          <p:nvPr/>
        </p:nvSpPr>
        <p:spPr>
          <a:xfrm>
            <a:off x="6856095" y="-31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1">
                <a:solidFill>
                  <a:srgbClr val="000000"/>
                </a:solidFill>
                <a:latin typeface="MyriadPro-SemiBold"/>
                <a:ea typeface="MyriadPro-SemiBold"/>
              </a:rPr>
              <a:t>Ref: Reading between the lines: Listener’s vmPFC simulates speaker cooperative choices in communication games</a:t>
            </a:r>
            <a:endParaRPr lang="en-US" altLang="zh-CN" sz="1600" b="1">
              <a:solidFill>
                <a:srgbClr val="000000"/>
              </a:solidFill>
              <a:latin typeface="MyriadPro-SemiBold"/>
              <a:ea typeface="MyriadPro-SemiBol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B231D1B-BF64-4637-A776-FABB3FE7EFB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6" name="文本框 65"/>
          <p:cNvSpPr txBox="1"/>
          <p:nvPr/>
        </p:nvSpPr>
        <p:spPr>
          <a:xfrm>
            <a:off x="362585" y="306070"/>
            <a:ext cx="11082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2. </a:t>
            </a:r>
            <a:r>
              <a:rPr lang="en-US" altLang="zh-CN" sz="2800" b="1">
                <a:sym typeface="+mn-ea"/>
              </a:rPr>
              <a:t>Tacit Coordination &amp; Common Ground</a:t>
            </a:r>
            <a:endParaRPr lang="en-US" altLang="zh-CN" sz="2800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62585" y="894715"/>
            <a:ext cx="11082020" cy="0"/>
          </a:xfrm>
          <a:prstGeom prst="line">
            <a:avLst/>
          </a:prstGeom>
          <a:ln>
            <a:solidFill>
              <a:srgbClr val="C00000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907780" y="4850765"/>
            <a:ext cx="1883410" cy="237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0695" y="1422400"/>
            <a:ext cx="7510780" cy="30803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Core question</a:t>
            </a:r>
            <a:endParaRPr lang="en-US" altLang="zh-CN" sz="2200" b="1"/>
          </a:p>
          <a:p>
            <a:r>
              <a:rPr lang="en-US" altLang="zh-CN" sz="1600"/>
              <a:t>Can the model coordinate on socially salient, mutually expected choices without explicit communication, and can it adapt those choices to shared background, local conventions, and higher-order knowledge constraints?</a:t>
            </a:r>
            <a:endParaRPr lang="en-US" altLang="zh-CN" sz="1600"/>
          </a:p>
          <a:p>
            <a:pPr>
              <a:spcAft>
                <a:spcPct val="60000"/>
              </a:spcAft>
            </a:pPr>
            <a:endParaRPr lang="en-US" altLang="zh-CN" sz="2200" b="1"/>
          </a:p>
          <a:p>
            <a:pPr>
              <a:spcAft>
                <a:spcPct val="60000"/>
              </a:spcAft>
            </a:pPr>
            <a:r>
              <a:rPr lang="en-US" altLang="zh-CN" sz="2200" b="1"/>
              <a:t>Subtasks</a:t>
            </a:r>
            <a:endParaRPr lang="en-US" altLang="zh-CN" sz="2200" b="1"/>
          </a:p>
          <a:p>
            <a:pPr>
              <a:buAutoNum type="arabicPeriod"/>
            </a:pPr>
            <a:r>
              <a:rPr lang="en-US" altLang="zh-CN" sz="1600"/>
              <a:t>Schelling Meeting Task</a:t>
            </a:r>
            <a:endParaRPr lang="en-US" altLang="zh-CN" sz="1600"/>
          </a:p>
          <a:p>
            <a:pPr>
              <a:buAutoNum type="arabicPeriod"/>
            </a:pPr>
            <a:r>
              <a:rPr lang="en-US" altLang="zh-CN" sz="1600"/>
              <a:t>Schelling Category/Number Task</a:t>
            </a:r>
            <a:endParaRPr lang="en-US" altLang="zh-CN" sz="1600"/>
          </a:p>
        </p:txBody>
      </p:sp>
      <p:sp>
        <p:nvSpPr>
          <p:cNvPr id="7" name="文本框 6"/>
          <p:cNvSpPr txBox="1"/>
          <p:nvPr/>
        </p:nvSpPr>
        <p:spPr>
          <a:xfrm>
            <a:off x="5308600" y="3683953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ref:</a:t>
            </a:r>
            <a:endParaRPr lang="en-US" altLang="zh-CN" sz="1600"/>
          </a:p>
          <a:p>
            <a:r>
              <a:rPr lang="en-US" altLang="zh-CN" sz="1600"/>
              <a:t>Thomas Schelling, The Strategy of Conflict (1960)</a:t>
            </a:r>
            <a:endParaRPr lang="en-US" altLang="zh-CN" sz="1600"/>
          </a:p>
          <a:p>
            <a:r>
              <a:rPr lang="en-US" altLang="zh-CN" sz="1600"/>
              <a:t>Mehta, Starmer, &amp; Sugden (1994)</a:t>
            </a:r>
            <a:endParaRPr lang="en-US" altLang="zh-CN"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B231D1B-BF64-4637-A776-FABB3FE7EFB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6" name="文本框 65"/>
          <p:cNvSpPr txBox="1"/>
          <p:nvPr/>
        </p:nvSpPr>
        <p:spPr>
          <a:xfrm>
            <a:off x="362585" y="306070"/>
            <a:ext cx="11082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3. Frith-Happ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é</a:t>
            </a:r>
            <a:r>
              <a:rPr lang="en-US" altLang="zh-CN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Animations / Social Attribution Task</a:t>
            </a:r>
            <a:endParaRPr lang="en-US" altLang="zh-CN" sz="2800" b="1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62585" y="894715"/>
            <a:ext cx="11082020" cy="0"/>
          </a:xfrm>
          <a:prstGeom prst="line">
            <a:avLst/>
          </a:prstGeom>
          <a:ln>
            <a:solidFill>
              <a:srgbClr val="C00000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907780" y="4850765"/>
            <a:ext cx="1883410" cy="237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705" y="3536950"/>
            <a:ext cx="2711450" cy="26015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605" y="3279775"/>
            <a:ext cx="4314190" cy="33788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2585" y="1045845"/>
            <a:ext cx="11082020" cy="1938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/>
              <a:t>Core question</a:t>
            </a:r>
            <a:endParaRPr lang="en-US" altLang="zh-CN" sz="2000" b="1"/>
          </a:p>
          <a:p>
            <a:r>
              <a:rPr lang="en-US" altLang="zh-CN" sz="1600"/>
              <a:t>Can the model infer social meaning from abstract motion patterns, rather than relying on explicit verbal cues or human-like surface features?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2000" b="1"/>
              <a:t>Subtasks</a:t>
            </a:r>
            <a:endParaRPr lang="en-US" altLang="zh-CN" sz="2000" b="1"/>
          </a:p>
          <a:p>
            <a:r>
              <a:rPr lang="en-US" altLang="zh-CN" sz="1600"/>
              <a:t>Heider–Simmel Style Motion Description Task (Goal-directed / Physical)</a:t>
            </a:r>
            <a:endParaRPr lang="en-US" altLang="zh-CN" sz="1600"/>
          </a:p>
          <a:p>
            <a:r>
              <a:rPr lang="en-US" altLang="zh-CN" sz="1600"/>
              <a:t>Frith-Happ</a:t>
            </a:r>
            <a:r>
              <a:rPr lang="en-US" altLang="en-US" sz="1600"/>
              <a:t>é</a:t>
            </a:r>
            <a:r>
              <a:rPr lang="en-US" altLang="zh-CN" sz="1600"/>
              <a:t> Animation Mental-State Attribution Task (Theory-of-Mind / Mentalizing)</a:t>
            </a:r>
            <a:endParaRPr lang="en-US" altLang="zh-CN"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B231D1B-BF64-4637-A776-FABB3FE7EFB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6" name="文本框 65"/>
          <p:cNvSpPr txBox="1"/>
          <p:nvPr/>
        </p:nvSpPr>
        <p:spPr>
          <a:xfrm>
            <a:off x="362585" y="306070"/>
            <a:ext cx="11082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. Multi-Agent False Belief</a:t>
            </a:r>
            <a:endParaRPr lang="en-US" altLang="zh-CN" sz="2800" b="1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62585" y="894715"/>
            <a:ext cx="11082020" cy="0"/>
          </a:xfrm>
          <a:prstGeom prst="line">
            <a:avLst/>
          </a:prstGeom>
          <a:ln>
            <a:solidFill>
              <a:srgbClr val="C00000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907780" y="4850765"/>
            <a:ext cx="1883410" cy="237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0300" y="1022350"/>
            <a:ext cx="6715760" cy="40659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480" y="5266690"/>
            <a:ext cx="1549400" cy="1459865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404495" y="1139825"/>
            <a:ext cx="2763520" cy="514159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926580" y="233680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pPr indent="0">
              <a:buFont typeface="Arial" panose="020B0604020202020204"/>
              <a:buNone/>
            </a:pPr>
            <a:r>
              <a:rPr lang="en-US" altLang="zh-CN" sz="1600"/>
              <a:t>ref: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Wimmer, H., &amp; Perner, J. (1983). Beliefs about beliefs: Representation and constraining function of wrong beliefs in young children’s understanding of deception.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Baron-Cohen, S., Leslie, A. M., &amp; Frith, U. (1985). Does the autistic child have a “theory of mind”?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en-US" altLang="zh-CN" sz="1600" b="1"/>
              <a:t>The Decrypto Benchmark for Multi-Agent Reasoning and Theory of Mind</a:t>
            </a:r>
            <a:endParaRPr lang="en-US" altLang="zh-CN" sz="16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1585</Words>
  <Application>WPS 演示</Application>
  <PresentationFormat>宽屏</PresentationFormat>
  <Paragraphs>56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Helvetica Light</vt:lpstr>
      <vt:lpstr>微软雅黑</vt:lpstr>
      <vt:lpstr>Cambria Math</vt:lpstr>
      <vt:lpstr>MS Mincho</vt:lpstr>
      <vt:lpstr>楷体</vt:lpstr>
      <vt:lpstr>Calibri</vt:lpstr>
      <vt:lpstr>MyriadPro-SemiBold</vt:lpstr>
      <vt:lpstr>Segoe Print</vt:lpstr>
      <vt:lpstr>Arial Unicode MS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STarrrMoon</cp:lastModifiedBy>
  <cp:revision>51</cp:revision>
  <dcterms:created xsi:type="dcterms:W3CDTF">2023-08-09T12:44:00Z</dcterms:created>
  <dcterms:modified xsi:type="dcterms:W3CDTF">2026-04-05T16:14:48Z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CF62399DE4A34D2FA2F6CE0CCF34ED6A_13</vt:lpwstr>
  </property>
</Properties>
</file>